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F2A3D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Lamp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Intelligence Assistant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4937760" cy="0"/>
          </a:xfrm>
          <a:prstGeom prst="line">
            <a:avLst/>
          </a:prstGeom>
          <a:noFill/>
          <a:ln w="12700">
            <a:solidFill>
              <a:srgbClr val="283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zero-hallucination placement answers for TPOs and students — built on Databricks Unity Catalog and Genie Spaces.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51D2C"/>
          </a:solidFill>
          <a:ln w="12700">
            <a:solidFill>
              <a:srgbClr val="283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89204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· 4 Gold Tables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80460" y="489204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80460" y="5193792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Space · Trusted Views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51860" y="4846320"/>
            <a:ext cx="0" cy="914400"/>
          </a:xfrm>
          <a:prstGeom prst="line">
            <a:avLst/>
          </a:prstGeom>
          <a:noFill/>
          <a:ln w="12700">
            <a:solidFill>
              <a:srgbClr val="283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89204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5193792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Deterministic Math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4846320"/>
            <a:ext cx="0" cy="914400"/>
          </a:xfrm>
          <a:prstGeom prst="line">
            <a:avLst/>
          </a:prstGeom>
          <a:noFill/>
          <a:ln w="12700">
            <a:solidFill>
              <a:srgbClr val="283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38260" y="489204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38260" y="5193792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09660" y="4846320"/>
            <a:ext cx="0" cy="914400"/>
          </a:xfrm>
          <a:prstGeom prst="line">
            <a:avLst/>
          </a:prstGeom>
          <a:noFill/>
          <a:ln w="12700">
            <a:solidFill>
              <a:srgbClr val="283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Skill Lamp  ·  Hackathon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placement season, university placement cells face a double crisis.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151D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02536"/>
            <a:ext cx="566928" cy="566928"/>
          </a:xfrm>
          <a:prstGeom prst="ellipse">
            <a:avLst/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67128"/>
            <a:ext cx="237744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039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TPO Data Maze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51560" y="2916936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3464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spreadsheets, scattered recruiter emails, and ad-hoc SQL for every eligibility check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3922776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84048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way to translate a raw recruiter job description into a qualified candidate list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51560" y="4928616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84632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per drive re-deriving cohorts that should be a single governed query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151D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28816" y="2002536"/>
            <a:ext cx="566928" cy="566928"/>
          </a:xfrm>
          <a:prstGeom prst="ellipse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2176272"/>
            <a:ext cx="219456" cy="21945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039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 Guidance Void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720840" y="2916936"/>
            <a:ext cx="82296" cy="8229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83464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— "learn more skills" — with no measurable link to outcomes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20840" y="3922776"/>
            <a:ext cx="82296" cy="8229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384048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 into how a specific skill changes placement probability or CTC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720840" y="4928616"/>
            <a:ext cx="82296" cy="8229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84632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branch- or CGPA-specific, data-backed picture of return on effort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LAMP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Dual-persona placement intelligence — one governed data platform, two purpose-built experiences.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151D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02536"/>
            <a:ext cx="566928" cy="566928"/>
          </a:xfrm>
          <a:prstGeom prst="ellipse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176272"/>
            <a:ext cx="219456" cy="21945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9659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TPO Command Portal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PLACEMENT OFFICERS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297180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97180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Copilot sidebar for plain-English placement queries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397764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97764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recruiter JD — Genie matches it to eligible candidates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498348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98348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spreadsheet with 1-click CSV export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151D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02536"/>
            <a:ext cx="566928" cy="566928"/>
          </a:xfrm>
          <a:prstGeom prst="ellipse">
            <a:avLst/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02552" y="2176272"/>
            <a:ext cx="219456" cy="219456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9659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Placement Time Machine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178040" y="2404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297180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97180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Privacy-locked view of the student's own profile only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397764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97764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I learn this skill?" live simulator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498348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498348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Roadmap toward a chosen target company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LAMP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through a governed, auditable pipeline — no layer is skipped.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11730" cy="3063240"/>
          </a:xfrm>
          <a:prstGeom prst="roundRect">
            <a:avLst>
              <a:gd name="adj" fmla="val 3033"/>
            </a:avLst>
          </a:prstGeom>
          <a:solidFill>
            <a:srgbClr val="141C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19545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Catalog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19545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GOLD DELTA TABLES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195453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source of truth for students, placements, companies &amp; skills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79242" y="3552444"/>
            <a:ext cx="356616" cy="256032"/>
          </a:xfrm>
          <a:prstGeom prst="rightArrow">
            <a:avLst/>
          </a:prstGeom>
          <a:solidFill>
            <a:srgbClr val="283347"/>
          </a:solidFill>
          <a:ln/>
        </p:spPr>
      </p:sp>
      <p:sp>
        <p:nvSpPr>
          <p:cNvPr id="10" name="Shape 8"/>
          <p:cNvSpPr/>
          <p:nvPr/>
        </p:nvSpPr>
        <p:spPr>
          <a:xfrm>
            <a:off x="3463290" y="2148840"/>
            <a:ext cx="2411730" cy="3063240"/>
          </a:xfrm>
          <a:prstGeom prst="roundRect">
            <a:avLst>
              <a:gd name="adj" fmla="val 3033"/>
            </a:avLst>
          </a:prstGeom>
          <a:solidFill>
            <a:srgbClr val="141C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9189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91890" y="2880360"/>
            <a:ext cx="19545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Genie Space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91890" y="3383280"/>
            <a:ext cx="19545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91890" y="3794760"/>
            <a:ext cx="195453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instructions + trusted view/function generate governed SQL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02452" y="3552444"/>
            <a:ext cx="356616" cy="256032"/>
          </a:xfrm>
          <a:prstGeom prst="rightArrow">
            <a:avLst/>
          </a:prstGeom>
          <a:solidFill>
            <a:srgbClr val="283347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2148840"/>
            <a:ext cx="2411730" cy="3063240"/>
          </a:xfrm>
          <a:prstGeom prst="roundRect">
            <a:avLst>
              <a:gd name="adj" fmla="val 3033"/>
            </a:avLst>
          </a:prstGeom>
          <a:solidFill>
            <a:srgbClr val="141C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510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15100" y="2880360"/>
            <a:ext cx="19545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15100" y="3383280"/>
            <a:ext cx="19545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15100" y="3794760"/>
            <a:ext cx="195453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Genie orchestration, and 100% of probability / CTC arithmetic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25662" y="3552444"/>
            <a:ext cx="356616" cy="256032"/>
          </a:xfrm>
          <a:prstGeom prst="rightArrow">
            <a:avLst/>
          </a:prstGeom>
          <a:solidFill>
            <a:srgbClr val="283347"/>
          </a:solidFill>
          <a:ln/>
        </p:spPr>
      </p:sp>
      <p:sp>
        <p:nvSpPr>
          <p:cNvPr id="22" name="Shape 20"/>
          <p:cNvSpPr/>
          <p:nvPr/>
        </p:nvSpPr>
        <p:spPr>
          <a:xfrm>
            <a:off x="9109710" y="2148840"/>
            <a:ext cx="2411730" cy="3063240"/>
          </a:xfrm>
          <a:prstGeom prst="roundRect">
            <a:avLst>
              <a:gd name="adj" fmla="val 3033"/>
            </a:avLst>
          </a:prstGeom>
          <a:solidFill>
            <a:srgbClr val="141C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3831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38310" y="2880360"/>
            <a:ext cx="19545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SPA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338310" y="3383280"/>
            <a:ext cx="19545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38310" y="3794760"/>
            <a:ext cx="195453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 Portal, Student Time Machine &amp; SQL Trace Drawer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is only ever allowed to run governed SQL and return raw counts — a Python engine performs all downstream arithmetic.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LAMP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Anti-Hallucination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SQL plus deterministic Python math — not a general-purpose LLM guessing at numbers.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17121A"/>
          </a:solidFill>
          <a:ln w="12700">
            <a:solidFill>
              <a:srgbClr val="3A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 TEXT-TO-SQL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hallucinations on complex joins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enterprise governance or masking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389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43891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invents or approximates arithmetic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5257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525780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logic is a black box to auditors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0F1E1A"/>
          </a:solidFill>
          <a:ln w="12700">
            <a:solidFill>
              <a:srgbClr val="1E40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1031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LAMP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651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265176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constrained to a trusted view &amp; function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520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35204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enforces row/column-level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389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43891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 owns 100% of the arithmetic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5257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525780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auditable in the SQL Trace Drawer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LAMP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Future 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 cohort shows the model at work today — the roadmap takes it institution-wide.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11730" cy="1417320"/>
          </a:xfrm>
          <a:prstGeom prst="roundRect">
            <a:avLst>
              <a:gd name="adj" fmla="val 5161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21374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→ 80%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1374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PROBABILITY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3290" y="1783080"/>
            <a:ext cx="2411730" cy="1417320"/>
          </a:xfrm>
          <a:prstGeom prst="roundRect">
            <a:avLst>
              <a:gd name="adj" fmla="val 5161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00450" y="1920240"/>
            <a:ext cx="21374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8.20 → 18.50 LPA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00450" y="2697480"/>
            <a:ext cx="21374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CTC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86500" y="1783080"/>
            <a:ext cx="2411730" cy="1417320"/>
          </a:xfrm>
          <a:prstGeom prst="roundRect">
            <a:avLst>
              <a:gd name="adj" fmla="val 5161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3660" y="1920240"/>
            <a:ext cx="21374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92.0%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23660" y="2697480"/>
            <a:ext cx="21374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PROBABILITY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09710" y="1783080"/>
            <a:ext cx="2411730" cy="1417320"/>
          </a:xfrm>
          <a:prstGeom prst="roundRect">
            <a:avLst>
              <a:gd name="adj" fmla="val 5161"/>
            </a:avLst>
          </a:prstGeom>
          <a:solidFill>
            <a:srgbClr val="10192B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46870" y="1920240"/>
            <a:ext cx="21374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Companies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246870" y="2697480"/>
            <a:ext cx="21374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UNLOCKED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3352800" cy="2148840"/>
          </a:xfrm>
          <a:prstGeom prst="roundRect">
            <a:avLst>
              <a:gd name="adj" fmla="val 3404"/>
            </a:avLst>
          </a:prstGeom>
          <a:solidFill>
            <a:srgbClr val="141C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5820" y="409194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251960"/>
            <a:ext cx="182880" cy="18288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09160"/>
            <a:ext cx="280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Multi-Campus Scale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4400" y="5138928"/>
            <a:ext cx="280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governed pipeline across every affiliated college in one Unity Catalog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04360" y="3931920"/>
            <a:ext cx="3352800" cy="2148840"/>
          </a:xfrm>
          <a:prstGeom prst="roundRect">
            <a:avLst>
              <a:gd name="adj" fmla="val 3404"/>
            </a:avLst>
          </a:prstGeom>
          <a:solidFill>
            <a:srgbClr val="141C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0100" y="409194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0120" y="4251960"/>
            <a:ext cx="182880" cy="18288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4678680" y="4709160"/>
            <a:ext cx="280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Resume Parsing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78680" y="5138928"/>
            <a:ext cx="280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resumes directly into the student skill graph, no manual data entry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68640" y="3931920"/>
            <a:ext cx="3352800" cy="2148840"/>
          </a:xfrm>
          <a:prstGeom prst="roundRect">
            <a:avLst>
              <a:gd name="adj" fmla="val 3404"/>
            </a:avLst>
          </a:prstGeom>
          <a:solidFill>
            <a:srgbClr val="141C2C"/>
          </a:solidFill>
          <a:ln w="12700">
            <a:solidFill>
              <a:srgbClr val="2833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74380" y="409194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34400" y="4251960"/>
            <a:ext cx="182880" cy="18288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30" name="Text 28"/>
          <p:cNvSpPr/>
          <p:nvPr/>
        </p:nvSpPr>
        <p:spPr>
          <a:xfrm>
            <a:off x="8442960" y="4709160"/>
            <a:ext cx="280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Credential Badges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42960" y="5138928"/>
            <a:ext cx="280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verifiable skill badges recruiters can trust at a glance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LAMP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2026-09-02T04:58:24Z</dcterms:created>
  <dcterms:modified xsi:type="dcterms:W3CDTF">2026-09-02T04:58:24Z</dcterms:modified>
</cp:coreProperties>
</file>